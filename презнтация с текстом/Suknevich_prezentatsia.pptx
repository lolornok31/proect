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63" r:id="rId10"/>
    <p:sldId id="269" r:id="rId11"/>
    <p:sldId id="264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-19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>
                <a:latin typeface="Times New Roman"/>
                <a:cs typeface="Times New Roman"/>
              </a:rPr>
              <a:t>Опрос</a:t>
            </a:r>
            <a:endParaRPr lang="ru-RU"/>
          </a:p>
        </c:rich>
      </c:tx>
      <c:layout>
        <c:manualLayout>
          <c:xMode val="edge"/>
          <c:yMode val="edge"/>
          <c:x val="0.68560200000000004"/>
          <c:y val="2.0764000000000001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48525000000000001"/>
          <c:y val="0.13763600000000001"/>
          <c:w val="0.51475000000000004"/>
          <c:h val="0.81211500000000003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Опрос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Лист1!$A$2:$A$6</c:f>
              <c:strCache>
                <c:ptCount val="5"/>
                <c:pt idx="0">
                  <c:v>Знающие как подростки могут трудоустроится  на работу</c:v>
                </c:pt>
                <c:pt idx="1">
                  <c:v>С какого возраста можно трудоустраиваться</c:v>
                </c:pt>
                <c:pt idx="2">
                  <c:v>Знающие кто занимается трудоустройством подростков</c:v>
                </c:pt>
                <c:pt idx="3">
                  <c:v>Куда обратиться для трудоустройства
</c:v>
                </c:pt>
                <c:pt idx="4">
                  <c:v>Хотели бы они трудоустроиться</c:v>
                </c:pt>
              </c:strCache>
            </c:strRef>
          </c:cat>
          <c:val>
            <c:numRef>
              <c:f>Лист1!$B$2:$B$6</c:f>
              <c:numCache>
                <c:formatCode>0%</c:formatCode>
                <c:ptCount val="5"/>
                <c:pt idx="0">
                  <c:v>0.1</c:v>
                </c:pt>
                <c:pt idx="1">
                  <c:v>0.35</c:v>
                </c:pt>
                <c:pt idx="2">
                  <c:v>0.25</c:v>
                </c:pt>
                <c:pt idx="3">
                  <c:v>0.05</c:v>
                </c:pt>
                <c:pt idx="4">
                  <c:v>0.25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1DD-4E37-98CA-3404DE83630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t"/>
      <c:layout>
        <c:manualLayout>
          <c:xMode val="edge"/>
          <c:yMode val="edge"/>
          <c:x val="1.6000000000000001E-3"/>
          <c:y val="1.73E-3"/>
          <c:w val="0.44853500000000002"/>
          <c:h val="1"/>
        </c:manualLayout>
      </c:layout>
      <c:overlay val="0"/>
      <c:txPr>
        <a:bodyPr/>
        <a:lstStyle/>
        <a:p>
          <a:pPr>
            <a:defRPr sz="24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11785600" y="274641"/>
            <a:ext cx="3657600" cy="5851525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12800" y="274641"/>
            <a:ext cx="10769600" cy="585152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8E80666-FB37-4B36-9149-507F3B0178E3}" type="datetimeFigureOut">
              <a:rPr lang="en-US"/>
              <a:t>3/19/2026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7E63A33-8271-4DD0-9C48-789913D7C11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085968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56030" y="109488"/>
            <a:ext cx="11640312" cy="1652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МУНИЦИПАЛЬНОЕ БЮДЖЕТНОЕ ОБЩЕОБРАЗОВАТЕЛЬНОЕ УЧРЕЖДЕНИЕ «СРЕДНЯЯ ОБЩЕОБРАЗОВАТЕЛЬНАЯ ШКОЛА №135» ИМ. АКАДЕМИКА Б.В. ЛИТВИНОВА</a:t>
            </a:r>
            <a:endParaRPr sz="1600" dirty="0"/>
          </a:p>
        </p:txBody>
      </p:sp>
      <p:sp>
        <p:nvSpPr>
          <p:cNvPr id="2098130432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48125" y="1971675"/>
            <a:ext cx="12048564" cy="23292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sz="2400" b="1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</a:t>
            </a:r>
            <a:r>
              <a:rPr lang="ru-RU"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Сайт </a:t>
            </a:r>
            <a:r>
              <a:rPr sz="24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трудоустройства</a:t>
            </a: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1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подростков</a:t>
            </a:r>
            <a:r>
              <a:rPr sz="24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2400" dirty="0"/>
          </a:p>
        </p:txBody>
      </p:sp>
      <p:sp>
        <p:nvSpPr>
          <p:cNvPr id="1897952576" name="TextBox 4"/>
          <p:cNvSpPr txBox="1"/>
          <p:nvPr/>
        </p:nvSpPr>
        <p:spPr bwMode="auto">
          <a:xfrm>
            <a:off x="6999891" y="4300935"/>
            <a:ext cx="5799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Автор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проекта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Сукневич Виталий</a:t>
            </a:r>
            <a:endParaRPr sz="1600" dirty="0"/>
          </a:p>
          <a:p>
            <a:pPr>
              <a:defRPr/>
            </a:pP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Ученик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«А» </a:t>
            </a: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класса</a:t>
            </a:r>
            <a:endParaRPr sz="1600" dirty="0"/>
          </a:p>
          <a:p>
            <a:pPr>
              <a:defRPr/>
            </a:pP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Наставник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проекта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Сагайдачная Полина </a:t>
            </a:r>
            <a:r>
              <a:rPr lang="ru-RU" sz="1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Вячеславовна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lang="en-US" sz="16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1362919" name=" 671362918"/>
          <p:cNvSpPr/>
          <p:nvPr/>
        </p:nvSpPr>
        <p:spPr bwMode="auto">
          <a:xfrm>
            <a:off x="4382474" y="6025514"/>
            <a:ext cx="3564509" cy="5794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ru-RU" sz="1600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</a:t>
            </a:r>
            <a:r>
              <a:rPr sz="16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sz="16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Снежинск</a:t>
            </a:r>
            <a:endParaRPr sz="1600" dirty="0"/>
          </a:p>
          <a:p>
            <a:pPr algn="ctr">
              <a:defRPr/>
            </a:pPr>
            <a:r>
              <a:rPr sz="16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i="0" u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г.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46" name="Picture 2" descr="человек задумался мультяшный стиль: 2 тыс изображений ...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053627" y="1575625"/>
            <a:ext cx="5760000" cy="3836437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 bwMode="auto">
          <a:xfrm>
            <a:off x="4497691" y="353237"/>
            <a:ext cx="28144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/>
                <a:ea typeface="Calibri"/>
                <a:cs typeface="Times New Roman"/>
              </a:rPr>
              <a:t>Актуальность</a:t>
            </a:r>
            <a:endParaRPr lang="ru-RU" sz="3200" b="1" dirty="0"/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490835" y="1221680"/>
            <a:ext cx="518475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/>
                <a:ea typeface="Times New Roman"/>
                <a:cs typeface="Times New Roman"/>
              </a:rPr>
              <a:t>Подростковый возраст является наиболее оптимальным для развития системы ценностей, так как это период самоутверждения, активного развития социальных интересов и жизненных идеалов</a:t>
            </a:r>
            <a:r>
              <a:rPr lang="ru-RU" sz="2000" dirty="0" smtClean="0"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2000" dirty="0">
                <a:latin typeface="Times New Roman"/>
                <a:ea typeface="Times New Roman"/>
                <a:cs typeface="Times New Roman"/>
              </a:rPr>
              <a:t>В современном мире подростки все раньше начинают задумываться о финансовой независимости и первом трудовом опыте. Если раньше работа для школьников воспринималась как редкая подработка «на лето», то сегодня это устойчивый тренд, поддерживаемый государством, бизнесом и цифровыми платформами. Создание персонального сайта для трудоустройства подростка становится  насущной необходимостью.</a:t>
            </a:r>
            <a:endParaRPr sz="20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ru-RU" sz="3200" b="1" dirty="0">
                <a:latin typeface="Times New Roman"/>
                <a:cs typeface="Times New Roman"/>
              </a:rPr>
              <a:t>Опрос</a:t>
            </a:r>
            <a:endParaRPr lang="ru-RU" sz="3200" dirty="0">
              <a:latin typeface="Times New Roman"/>
              <a:cs typeface="Times New Roman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 dirty="0">
                <a:latin typeface="Times New Roman"/>
                <a:cs typeface="Times New Roman"/>
              </a:rPr>
              <a:t>1.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Хотели бы вы трудоустроиться?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dirty="0">
                <a:latin typeface="Times New Roman"/>
                <a:cs typeface="Times New Roman"/>
              </a:rPr>
              <a:t>2. Знаете ли как трудоустроится  на работу?</a:t>
            </a:r>
            <a:br>
              <a:rPr lang="ru-RU" dirty="0">
                <a:latin typeface="Times New Roman"/>
                <a:cs typeface="Times New Roman"/>
              </a:rPr>
            </a:br>
            <a:r>
              <a:rPr lang="ru-RU" dirty="0">
                <a:latin typeface="Times New Roman"/>
                <a:cs typeface="Times New Roman"/>
              </a:rPr>
              <a:t>3.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С какого возраста можно официально устроиться на работу?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dirty="0">
                <a:latin typeface="Times New Roman"/>
                <a:cs typeface="Times New Roman"/>
              </a:rPr>
              <a:t>4.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Кто занимается трудоустройством подростков?</a:t>
            </a:r>
            <a:endParaRPr dirty="0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dirty="0">
                <a:latin typeface="Times New Roman"/>
                <a:cs typeface="Times New Roman"/>
              </a:rPr>
              <a:t>5.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ru-RU" dirty="0">
                <a:latin typeface="Times New Roman"/>
                <a:cs typeface="Times New Roman"/>
              </a:rPr>
              <a:t>Куда обратиться для трудоустройства?</a:t>
            </a:r>
            <a:endParaRPr dirty="0"/>
          </a:p>
          <a:p>
            <a:pPr marL="0" indent="0">
              <a:lnSpc>
                <a:spcPct val="150000"/>
              </a:lnSpc>
              <a:buNone/>
              <a:defRPr/>
            </a:pP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21792" y="-109728"/>
            <a:ext cx="109728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Результаты опроса</a:t>
            </a:r>
            <a:endParaRPr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Диаграмма 3"/>
          <p:cNvGraphicFramePr>
            <a:graphicFrameLocks/>
          </p:cNvGraphicFramePr>
          <p:nvPr/>
        </p:nvGraphicFramePr>
        <p:xfrm>
          <a:off x="268224" y="975360"/>
          <a:ext cx="11838432" cy="5504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/>
          <p:nvPr/>
        </p:nvSpPr>
        <p:spPr bwMode="auto">
          <a:xfrm>
            <a:off x="689925" y="597408"/>
            <a:ext cx="10687184" cy="5559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r>
              <a:rPr lang="ru-RU" sz="2800" b="1" dirty="0">
                <a:latin typeface="Times New Roman"/>
                <a:ea typeface="Times New Roman"/>
                <a:cs typeface="Times New Roman"/>
              </a:rPr>
              <a:t>Цель: </a:t>
            </a:r>
            <a:r>
              <a:rPr lang="ru-RU" sz="2800" dirty="0">
                <a:latin typeface="Times New Roman"/>
                <a:ea typeface="Times New Roman"/>
                <a:cs typeface="Times New Roman"/>
              </a:rPr>
              <a:t>Создание </a:t>
            </a:r>
            <a:r>
              <a:rPr lang="ru-RU" sz="2800" dirty="0" smtClean="0">
                <a:latin typeface="Times New Roman"/>
                <a:ea typeface="Times New Roman"/>
                <a:cs typeface="Times New Roman"/>
              </a:rPr>
              <a:t>сайта </a:t>
            </a:r>
            <a:r>
              <a:rPr lang="ru-RU" sz="2800" dirty="0">
                <a:latin typeface="Times New Roman"/>
                <a:ea typeface="Times New Roman"/>
                <a:cs typeface="Times New Roman"/>
              </a:rPr>
              <a:t>для  помощи в трудоустройстве подростков.</a:t>
            </a:r>
          </a:p>
          <a:p>
            <a:pPr marL="0" indent="0" algn="just">
              <a:buNone/>
              <a:defRPr/>
            </a:pPr>
            <a:endParaRPr lang="ru-RU" sz="2800" b="1" dirty="0" smtClean="0"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buNone/>
              <a:defRPr/>
            </a:pPr>
            <a:r>
              <a:rPr lang="ru-RU" sz="2800" b="1" dirty="0" smtClean="0">
                <a:latin typeface="Times New Roman"/>
                <a:ea typeface="Times New Roman"/>
                <a:cs typeface="Times New Roman"/>
              </a:rPr>
              <a:t>Задачи</a:t>
            </a:r>
            <a:r>
              <a:rPr lang="ru-RU" sz="2800" b="1" dirty="0">
                <a:latin typeface="Times New Roman"/>
                <a:ea typeface="Times New Roman"/>
                <a:cs typeface="Times New Roman"/>
              </a:rPr>
              <a:t>: </a:t>
            </a:r>
            <a:endParaRPr dirty="0"/>
          </a:p>
          <a:p>
            <a:pPr marL="0" indent="0" algn="just">
              <a:spcAft>
                <a:spcPts val="800"/>
              </a:spcAft>
              <a:buNone/>
              <a:defRPr/>
            </a:pPr>
            <a:r>
              <a:rPr lang="ru-RU" sz="2800" dirty="0">
                <a:latin typeface="Times New Roman"/>
                <a:ea typeface="Times New Roman"/>
                <a:cs typeface="Times New Roman"/>
              </a:rPr>
              <a:t>1. Узнать особенность трудоустройства несовершеннолетних в соответствии с трудовым законодательством России; </a:t>
            </a:r>
            <a:endParaRPr dirty="0"/>
          </a:p>
          <a:p>
            <a:pPr marL="0" indent="0" algn="just">
              <a:spcAft>
                <a:spcPts val="800"/>
              </a:spcAft>
              <a:buNone/>
              <a:defRPr/>
            </a:pPr>
            <a:r>
              <a:rPr lang="ru-RU" sz="2800" dirty="0">
                <a:latin typeface="Times New Roman"/>
                <a:cs typeface="Times New Roman"/>
              </a:rPr>
              <a:t>2. Проанализировать рынок труда для подростков в возрасте от </a:t>
            </a:r>
            <a:br>
              <a:rPr lang="ru-RU" sz="2800" dirty="0">
                <a:latin typeface="Times New Roman"/>
                <a:cs typeface="Times New Roman"/>
              </a:rPr>
            </a:br>
            <a:r>
              <a:rPr lang="ru-RU" sz="2800" dirty="0">
                <a:latin typeface="Times New Roman"/>
                <a:cs typeface="Times New Roman"/>
              </a:rPr>
              <a:t>14-18 лет;</a:t>
            </a:r>
            <a:endParaRPr dirty="0"/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799"/>
              </a:spcAft>
              <a:buFont typeface="Arial"/>
              <a:buNone/>
              <a:defRPr/>
            </a:pPr>
            <a:r>
              <a:rPr lang="ru-RU" sz="2800" dirty="0">
                <a:latin typeface="Times New Roman"/>
                <a:cs typeface="Times New Roman"/>
              </a:rPr>
              <a:t>3.</a:t>
            </a:r>
            <a:r>
              <a:rPr lang="ru-RU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Изучить  возможные методы и инструменты для разработки </a:t>
            </a:r>
            <a:r>
              <a:rPr lang="ru-RU" sz="2800" dirty="0">
                <a:latin typeface="Times New Roman"/>
                <a:ea typeface="Times New Roman"/>
                <a:cs typeface="Times New Roman"/>
              </a:rPr>
              <a:t>сайта</a:t>
            </a:r>
            <a:r>
              <a:rPr lang="ru-RU" sz="2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;</a:t>
            </a:r>
            <a:endParaRPr lang="ru-RU" sz="28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/>
            </a:pPr>
            <a:r>
              <a:rPr lang="ru-RU" sz="2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4. Отобрать материал для </a:t>
            </a:r>
            <a:r>
              <a:rPr lang="ru-RU" sz="2800" dirty="0">
                <a:latin typeface="Times New Roman"/>
                <a:ea typeface="Times New Roman"/>
                <a:cs typeface="Times New Roman"/>
              </a:rPr>
              <a:t>сайта</a:t>
            </a:r>
            <a:r>
              <a:rPr lang="ru-RU" sz="2800" b="0" i="0" u="none" strike="noStrike" cap="none" spc="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, создать его.</a:t>
            </a:r>
            <a:endParaRPr lang="ru-RU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spcAft>
                <a:spcPts val="800"/>
              </a:spcAft>
              <a:defRPr/>
            </a:pPr>
            <a:endParaRPr lang="ru-RU"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31620" y="584677"/>
            <a:ext cx="9144000" cy="38595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latin typeface="Times New Roman"/>
                <a:cs typeface="Times New Roman"/>
              </a:rPr>
              <a:t>Трудовые правила и ограничения</a:t>
            </a:r>
            <a:endParaRPr dirty="0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-138105" y="1353574"/>
            <a:ext cx="116951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latin typeface="Times New Roman"/>
                <a:cs typeface="Times New Roman"/>
              </a:rPr>
              <a:t>	Согласно Закону, подросток может работать с 14-ти лет.</a:t>
            </a:r>
            <a:endParaRPr dirty="0"/>
          </a:p>
          <a:p>
            <a:pPr>
              <a:defRPr/>
            </a:pPr>
            <a:endParaRPr lang="ru-RU" sz="24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defRPr/>
            </a:pPr>
            <a:r>
              <a:rPr lang="ru-RU" sz="2400" dirty="0" smtClean="0">
                <a:latin typeface="Times New Roman"/>
                <a:cs typeface="Times New Roman"/>
              </a:rPr>
              <a:t>­</a:t>
            </a:r>
            <a:r>
              <a:rPr lang="ru-RU" sz="2400" dirty="0">
                <a:latin typeface="Times New Roman"/>
                <a:cs typeface="Times New Roman"/>
              </a:rPr>
              <a:t>	</a:t>
            </a:r>
            <a:r>
              <a:rPr lang="ru-RU" sz="2400" b="1" dirty="0">
                <a:latin typeface="Times New Roman"/>
                <a:cs typeface="Times New Roman"/>
              </a:rPr>
              <a:t>Продолжительность рабочего времени</a:t>
            </a:r>
            <a:r>
              <a:rPr lang="ru-RU" sz="2400" b="1" dirty="0" smtClean="0">
                <a:latin typeface="Times New Roman"/>
                <a:cs typeface="Times New Roman"/>
              </a:rPr>
              <a:t>:</a:t>
            </a:r>
            <a:endParaRPr lang="ru-RU" sz="2400" dirty="0">
              <a:latin typeface="Times New Roman"/>
              <a:cs typeface="Times New Roman"/>
            </a:endParaRPr>
          </a:p>
          <a:p>
            <a:pPr lvl="0">
              <a:lnSpc>
                <a:spcPct val="150000"/>
              </a:lnSpc>
              <a:defRPr/>
            </a:pPr>
            <a:r>
              <a:rPr lang="ru-RU" sz="2400" dirty="0">
                <a:latin typeface="Times New Roman"/>
                <a:cs typeface="Times New Roman"/>
              </a:rPr>
              <a:t>	- для подростков 14 - 16 лет - 5 часов в день и 24 ч в неделю;</a:t>
            </a:r>
            <a:endParaRPr dirty="0"/>
          </a:p>
          <a:p>
            <a:pPr lvl="0">
              <a:defRPr/>
            </a:pPr>
            <a:r>
              <a:rPr lang="ru-RU" sz="2400" dirty="0">
                <a:latin typeface="Times New Roman"/>
                <a:cs typeface="Times New Roman"/>
              </a:rPr>
              <a:t>	- для подростков 16 - 18 лет -7 часов в день и 36 ч в неделю.</a:t>
            </a:r>
            <a:endParaRPr dirty="0"/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0" y="4044836"/>
            <a:ext cx="116128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sz="2400" dirty="0">
                <a:latin typeface="Times New Roman"/>
                <a:cs typeface="Times New Roman"/>
              </a:rPr>
              <a:t>	</a:t>
            </a:r>
            <a:r>
              <a:rPr lang="ru-RU" sz="2400" b="1" dirty="0">
                <a:latin typeface="Times New Roman"/>
                <a:cs typeface="Times New Roman"/>
              </a:rPr>
              <a:t>Запрещенные</a:t>
            </a:r>
            <a:r>
              <a:rPr lang="ru-RU" sz="2400" dirty="0">
                <a:latin typeface="Times New Roman"/>
                <a:cs typeface="Times New Roman"/>
              </a:rPr>
              <a:t> законодательством </a:t>
            </a:r>
            <a:r>
              <a:rPr lang="ru-RU" sz="2400" b="1" dirty="0">
                <a:latin typeface="Times New Roman"/>
                <a:cs typeface="Times New Roman"/>
              </a:rPr>
              <a:t>виды работ</a:t>
            </a:r>
            <a:r>
              <a:rPr lang="ru-RU" sz="2400" dirty="0">
                <a:latin typeface="Times New Roman"/>
                <a:cs typeface="Times New Roman"/>
              </a:rPr>
              <a:t>:</a:t>
            </a:r>
            <a:endParaRPr dirty="0"/>
          </a:p>
          <a:p>
            <a:pPr lvl="0">
              <a:lnSpc>
                <a:spcPct val="150000"/>
              </a:lnSpc>
              <a:defRPr/>
            </a:pPr>
            <a:r>
              <a:rPr lang="ru-RU" sz="2400" dirty="0">
                <a:latin typeface="Times New Roman"/>
                <a:cs typeface="Times New Roman"/>
              </a:rPr>
              <a:t>	- совместительство</a:t>
            </a:r>
            <a:r>
              <a:rPr lang="ru-RU" sz="2400" dirty="0" smtClean="0">
                <a:latin typeface="Times New Roman"/>
                <a:cs typeface="Times New Roman"/>
              </a:rPr>
              <a:t>;</a:t>
            </a:r>
            <a:endParaRPr lang="ru-RU" sz="2400" dirty="0"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400" dirty="0">
                <a:latin typeface="Times New Roman"/>
                <a:cs typeface="Times New Roman"/>
              </a:rPr>
              <a:t>	- на работах с вредными и опасными условиями труда</a:t>
            </a:r>
            <a:r>
              <a:rPr lang="ru-RU" sz="2400" dirty="0" smtClean="0">
                <a:latin typeface="Times New Roman"/>
                <a:cs typeface="Times New Roman"/>
              </a:rPr>
              <a:t>;</a:t>
            </a:r>
            <a:endParaRPr lang="ru-RU" sz="2400" dirty="0"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400" dirty="0">
                <a:latin typeface="Times New Roman"/>
                <a:cs typeface="Times New Roman"/>
              </a:rPr>
              <a:t>	- в религиозных учреждениях</a:t>
            </a:r>
            <a:r>
              <a:rPr lang="ru-RU" sz="2400" dirty="0" smtClean="0">
                <a:latin typeface="Times New Roman"/>
                <a:cs typeface="Times New Roman"/>
              </a:rPr>
              <a:t>;</a:t>
            </a:r>
            <a:endParaRPr lang="ru-RU" sz="2400" dirty="0">
              <a:latin typeface="Times New Roman"/>
              <a:cs typeface="Times New Roman"/>
            </a:endParaRPr>
          </a:p>
          <a:p>
            <a:pPr lvl="0">
              <a:defRPr/>
            </a:pPr>
            <a:r>
              <a:rPr lang="ru-RU" sz="2400" dirty="0">
                <a:latin typeface="Times New Roman"/>
                <a:cs typeface="Times New Roman"/>
              </a:rPr>
              <a:t>	- в выходные дни, в ночное время, на подземных работах.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Требуемые характеристики сайта  </a:t>
            </a:r>
            <a:endParaRPr lang="ru-RU" sz="2800" b="1" dirty="0"/>
          </a:p>
        </p:txBody>
      </p:sp>
      <p:sp>
        <p:nvSpPr>
          <p:cNvPr id="6" name="Text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1. </a:t>
            </a:r>
            <a:r>
              <a:rPr lang="ru-RU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М</a:t>
            </a:r>
            <a:r>
              <a:rPr lang="en-US" sz="2400" dirty="0" err="1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ногостраничн</a:t>
            </a: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ость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Адаптивный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веб-дизайн</a:t>
            </a: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3.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Гибкие сетки и блоки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4.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Медиазапросы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адаптируемость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под разные устройства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5.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типографика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SzPct val="100000"/>
              <a:buNone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Унификация контента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Web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09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Технологии разработки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Адаптивность сайта достигалась при помощи гибких сеток и блоков (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flexbox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grid)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медиазапросов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Адаптив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ое меню под мобильные телефоны было реализовано при помощи кода на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сворачивается в иконку «гамбургер»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One Web 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всех устройствах доступен один и тот же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HTML-код,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без отдельных мобильных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поддоменов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Принцип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Mobile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First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25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 b="1" dirty="0" smtClean="0">
                <a:latin typeface="Times New Roman"/>
                <a:cs typeface="Times New Roman"/>
              </a:rPr>
              <a:t>Ссылки на</a:t>
            </a:r>
            <a:r>
              <a:rPr lang="ru-RU" b="1" dirty="0" smtClean="0">
                <a:latin typeface="Times New Roman"/>
                <a:cs typeface="Times New Roman"/>
              </a:rPr>
              <a:t> </a:t>
            </a:r>
            <a:r>
              <a:rPr lang="ru-RU" sz="2800" b="1" dirty="0" smtClean="0">
                <a:latin typeface="Times New Roman"/>
                <a:cs typeface="Times New Roman"/>
              </a:rPr>
              <a:t>сайт </a:t>
            </a:r>
            <a:endParaRPr sz="2800" b="1" dirty="0">
              <a:latin typeface="Times New Roman"/>
              <a:cs typeface="Times New Roman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https://rabota-snezhinsk.ru/index.html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Заголовок 1"/>
          <p:cNvSpPr txBox="1"/>
          <p:nvPr/>
        </p:nvSpPr>
        <p:spPr bwMode="auto">
          <a:xfrm>
            <a:off x="487680" y="2314956"/>
            <a:ext cx="4888992" cy="2093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ru-RU" sz="4800" dirty="0">
              <a:latin typeface="Times New Roman"/>
              <a:cs typeface="Times New Roman"/>
            </a:endParaRPr>
          </a:p>
        </p:txBody>
      </p:sp>
      <p:pic>
        <p:nvPicPr>
          <p:cNvPr id="1026" name="Picture 2" descr="C:\Users\vsukn\Downloads\fram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98018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Times New Roman" pitchFamily="18" charset="0"/>
                <a:cs typeface="Times New Roman" pitchFamily="18" charset="0"/>
              </a:rPr>
              <a:t>Ссылки на материал проекта</a:t>
            </a:r>
            <a:endParaRPr lang="ru-RU" sz="32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600203"/>
            <a:ext cx="1138936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Трудовой кодекс - действующая редакция, актуальность 2025 г. [Электронный ресурс] trudinspection.ru/kodeks.html.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Сайт на программу в которой я  писал код(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hlinkClick r:id="rId2"/>
              </a:rPr>
              <a:t>https://code.visualstudio.com/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32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/>
          <p:nvPr/>
        </p:nvSpPr>
        <p:spPr bwMode="auto">
          <a:xfrm>
            <a:off x="109728" y="100585"/>
            <a:ext cx="11923776" cy="467298"/>
          </a:xfrm>
          <a:prstGeom prst="rect">
            <a:avLst/>
          </a:prstGeom>
        </p:spPr>
        <p:txBody>
          <a:bodyPr vert="horz" lIns="45720" tIns="0" rIns="45720" bIns="0" anchor="b">
            <a:noAutofit/>
          </a:bodyPr>
          <a:lstStyle>
            <a:lvl1pPr algn="ctr">
              <a:spcBef>
                <a:spcPts val="0"/>
              </a:spcBef>
              <a:buNone/>
              <a:defRPr sz="4800" b="1" cap="all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Заключение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5712509" name=" 475712508"/>
          <p:cNvSpPr/>
          <p:nvPr/>
        </p:nvSpPr>
        <p:spPr bwMode="auto">
          <a:xfrm>
            <a:off x="1082604" y="771336"/>
            <a:ext cx="10377876" cy="6086252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Для достижения результата, в ходе проектной работы был создан сайт, содержащий информацию о видах и способах заработка.  Я посетил Центр занятости населения города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Снежинска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 изучил виды работ доступные несовершеннолетним, а также перечень документов необходимый для устройства на работу.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	В процессе выполнения задач проекта был создан сайт с перечнем документов для подачи заявления по временному трудоустройству, где находится ЦНЗ (центр занятости несовершеннолетних), а также вакансиями для подростков в нашем городе.</a:t>
            </a:r>
          </a:p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	Надеюсь, мой сайт поможет школьникам узнать, что они могут начать зарабатывать уже сейчас и быть относительно независимыми в финансах от родителей.</a:t>
            </a:r>
            <a:endParaRPr lang="ru-RU" sz="2800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</TotalTime>
  <Words>341</Words>
  <Application>Microsoft Office PowerPoint</Application>
  <DocSecurity>0</DocSecurity>
  <PresentationFormat>Произвольный</PresentationFormat>
  <Paragraphs>55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МУНИЦИПАЛЬНОЕ БЮДЖЕТНОЕ ОБЩЕОБРАЗОВАТЕЛЬНОЕ УЧРЕЖДЕНИЕ «СРЕДНЯЯ ОБЩЕОБРАЗОВАТЕЛЬНАЯ ШКОЛА №135» ИМ. АКАДЕМИКА Б.В. ЛИТВИНОВА</vt:lpstr>
      <vt:lpstr>Презентация PowerPoint</vt:lpstr>
      <vt:lpstr>Опрос</vt:lpstr>
      <vt:lpstr>Результаты опроса</vt:lpstr>
      <vt:lpstr>Презентация PowerPoint</vt:lpstr>
      <vt:lpstr>Трудовые правила и ограничения</vt:lpstr>
      <vt:lpstr>Требуемые характеристики сайта  </vt:lpstr>
      <vt:lpstr>Технологии разработки</vt:lpstr>
      <vt:lpstr>Ссылки на сайт </vt:lpstr>
      <vt:lpstr>Ссылки на материал проекта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Муниципальное общеобразовательное учреждение “ Cредняя общеобразовательная школа №135 имени академика Б.В.Литвинова”</dc:title>
  <dc:creator>Виталий Сукневич</dc:creator>
  <cp:lastModifiedBy>Виталий Сукневич</cp:lastModifiedBy>
  <cp:revision>69</cp:revision>
  <dcterms:created xsi:type="dcterms:W3CDTF">2023-02-28T14:06:45Z</dcterms:created>
  <dcterms:modified xsi:type="dcterms:W3CDTF">2026-03-19T13:52:50Z</dcterms:modified>
  <dc:identifier/>
  <dc:language/>
  <cp:version/>
</cp:coreProperties>
</file>