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64" r:id="rId11"/>
    <p:sldId id="268" r:id="rId12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88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ru-RU">
                <a:latin typeface="Times New Roman"/>
                <a:cs typeface="Times New Roman"/>
              </a:rPr>
              <a:t>Опрос</a:t>
            </a:r>
            <a:endParaRPr lang="ru-RU"/>
          </a:p>
        </c:rich>
      </c:tx>
      <c:layout>
        <c:manualLayout>
          <c:xMode val="edge"/>
          <c:yMode val="edge"/>
          <c:x val="0.68560200000000004"/>
          <c:y val="2.0764000000000001E-2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48525000000000001"/>
          <c:y val="0.13763600000000001"/>
          <c:w val="0.51475000000000004"/>
          <c:h val="0.81211500000000003"/>
        </c:manualLayout>
      </c:layout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Опрос</c:v>
                </c:pt>
              </c:strCache>
            </c:strRef>
          </c:tx>
          <c:dLbls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Лист1!$A$2:$A$6</c:f>
              <c:strCache>
                <c:ptCount val="5"/>
                <c:pt idx="0">
                  <c:v>Знающие как подростки могут трудоустроится  на работу</c:v>
                </c:pt>
                <c:pt idx="1">
                  <c:v>С какого возраста можно трудоустраиваться</c:v>
                </c:pt>
                <c:pt idx="2">
                  <c:v>Знающие кто занимается трудоустройством подростков</c:v>
                </c:pt>
                <c:pt idx="3">
                  <c:v>Куда обратиться для трудоустройства
</c:v>
                </c:pt>
                <c:pt idx="4">
                  <c:v>Хотели бы они трудоустроиться</c:v>
                </c:pt>
              </c:strCache>
            </c:strRef>
          </c:cat>
          <c:val>
            <c:numRef>
              <c:f>Лист1!$B$2:$B$6</c:f>
              <c:numCache>
                <c:formatCode>0%</c:formatCode>
                <c:ptCount val="5"/>
                <c:pt idx="0">
                  <c:v>0.1</c:v>
                </c:pt>
                <c:pt idx="1">
                  <c:v>0.35</c:v>
                </c:pt>
                <c:pt idx="2">
                  <c:v>0.25</c:v>
                </c:pt>
                <c:pt idx="3">
                  <c:v>0.05</c:v>
                </c:pt>
                <c:pt idx="4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DD-4E37-98CA-3404DE83630F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</c:plotArea>
    <c:legend>
      <c:legendPos val="t"/>
      <c:layout>
        <c:manualLayout>
          <c:xMode val="edge"/>
          <c:yMode val="edge"/>
          <c:x val="1.6000000000000001E-3"/>
          <c:y val="1.73E-3"/>
          <c:w val="0.44853500000000002"/>
          <c:h val="1"/>
        </c:manualLayout>
      </c:layout>
      <c:overlay val="0"/>
      <c:txPr>
        <a:bodyPr/>
        <a:lstStyle/>
        <a:p>
          <a:pPr>
            <a:defRPr sz="2400"/>
          </a:pPr>
          <a:endParaRPr lang="ru-RU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914400" y="2130428"/>
            <a:ext cx="10363200" cy="1470025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828800" y="3886200"/>
            <a:ext cx="85344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12800" y="1600203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229600" y="1600203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4766732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11785600" y="274641"/>
            <a:ext cx="3657600" cy="5851525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12800" y="274641"/>
            <a:ext cx="10769600" cy="5851525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609600" y="1600203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E80666-FB37-4B36-9149-507F3B0178E3}" type="datetimeFigureOut">
              <a:rPr lang="en-US"/>
              <a:t>12/25/2025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7E63A33-8271-4DD0-9C48-789913D7C11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1085968" name="Заголовок 1"/>
          <p:cNvSpPr>
            <a:spLocks noGrp="1"/>
          </p:cNvSpPr>
          <p:nvPr>
            <p:ph type="ctrTitle"/>
          </p:nvPr>
        </p:nvSpPr>
        <p:spPr bwMode="auto">
          <a:xfrm>
            <a:off x="256030" y="109488"/>
            <a:ext cx="11640312" cy="1652634"/>
          </a:xfrm>
        </p:spPr>
        <p:txBody>
          <a:bodyPr>
            <a:normAutofit/>
          </a:bodyPr>
          <a:lstStyle/>
          <a:p>
            <a:pPr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МУНИЦИПАЛЬНОЕ БЮДЖЕТНОЕ ОБЩЕОБРАЗОВАТЕЛЬНОЕ УЧРЕЖДЕНИЕ «СРЕДНЯЯ ОБЩЕОБРАЗОВАТЕЛЬНАЯ ШКОЛА №135» ИМ. АКАДЕМИКА Б.В. ЛИТВИНОВА</a:t>
            </a:r>
            <a:endParaRPr sz="1600"/>
          </a:p>
        </p:txBody>
      </p:sp>
      <p:sp>
        <p:nvSpPr>
          <p:cNvPr id="2098130432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48125" y="1971675"/>
            <a:ext cx="12048564" cy="232926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sz="24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Индивидуальный</a:t>
            </a: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проект</a:t>
            </a:r>
            <a:endParaRPr sz="2400" dirty="0"/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Тип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проекта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социальный</a:t>
            </a:r>
            <a:endParaRPr sz="2400" dirty="0"/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Тема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проекта</a:t>
            </a:r>
            <a:endParaRPr sz="2400" dirty="0"/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«</a:t>
            </a:r>
            <a:r>
              <a:rPr lang="ru-RU"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Сайт </a:t>
            </a:r>
            <a:r>
              <a:rPr sz="24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для</a:t>
            </a: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трудоустройства</a:t>
            </a: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подростков</a:t>
            </a: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2400" dirty="0"/>
          </a:p>
        </p:txBody>
      </p:sp>
      <p:sp>
        <p:nvSpPr>
          <p:cNvPr id="1897952576" name="TextBox 4"/>
          <p:cNvSpPr txBox="1"/>
          <p:nvPr/>
        </p:nvSpPr>
        <p:spPr bwMode="auto">
          <a:xfrm>
            <a:off x="6868499" y="4235391"/>
            <a:ext cx="534756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Автор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проекта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Сукневич Виталий</a:t>
            </a:r>
            <a:endParaRPr sz="1600" dirty="0"/>
          </a:p>
          <a:p>
            <a:pPr>
              <a:defRPr/>
            </a:pP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Ученик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10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«А» </a:t>
            </a: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класса</a:t>
            </a:r>
            <a:endParaRPr sz="1600" dirty="0"/>
          </a:p>
          <a:p>
            <a:pPr>
              <a:defRPr/>
            </a:pP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Наставник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проекта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</a:t>
            </a:r>
            <a:r>
              <a:rPr lang="ru-RU" sz="16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Сагайдачная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Полина Вячеславовна</a:t>
            </a:r>
            <a:endParaRPr lang="en-US" sz="160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endParaRPr lang="en-US" sz="1600" b="0" i="0" u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71362919" name=" 671362918"/>
          <p:cNvSpPr/>
          <p:nvPr/>
        </p:nvSpPr>
        <p:spPr bwMode="auto">
          <a:xfrm>
            <a:off x="4382474" y="6025514"/>
            <a:ext cx="3564509" cy="5794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defRPr/>
            </a:pP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Г. </a:t>
            </a: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Снежинск</a:t>
            </a:r>
            <a:endParaRPr sz="1600" dirty="0"/>
          </a:p>
          <a:p>
            <a:pPr algn="ctr">
              <a:defRPr/>
            </a:pP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202</a:t>
            </a:r>
            <a:r>
              <a:rPr lang="ru-RU"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г.</a:t>
            </a:r>
            <a:endParaRPr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146" name="Picture 2" descr="человек задумался мультяшный стиль: 2 тыс изображений ...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3098202" y="2474259"/>
            <a:ext cx="5760000" cy="3836437"/>
          </a:xfrm>
          <a:prstGeom prst="rect">
            <a:avLst/>
          </a:prstGeom>
          <a:noFill/>
        </p:spPr>
      </p:pic>
      <p:sp>
        <p:nvSpPr>
          <p:cNvPr id="4" name="Прямоугольник 3"/>
          <p:cNvSpPr/>
          <p:nvPr/>
        </p:nvSpPr>
        <p:spPr bwMode="auto">
          <a:xfrm>
            <a:off x="4497691" y="353237"/>
            <a:ext cx="28144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ru-RU" sz="3200" b="1" dirty="0">
                <a:latin typeface="Times New Roman"/>
                <a:ea typeface="Calibri"/>
                <a:cs typeface="Times New Roman"/>
              </a:rPr>
              <a:t>Актуальность</a:t>
            </a:r>
            <a:endParaRPr lang="ru-RU" sz="3200" b="1" dirty="0"/>
          </a:p>
        </p:txBody>
      </p:sp>
      <p:sp>
        <p:nvSpPr>
          <p:cNvPr id="5" name="Прямоугольник 4"/>
          <p:cNvSpPr/>
          <p:nvPr/>
        </p:nvSpPr>
        <p:spPr bwMode="auto">
          <a:xfrm>
            <a:off x="853441" y="1268977"/>
            <a:ext cx="103883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000">
                <a:latin typeface="Times New Roman"/>
                <a:ea typeface="Times New Roman"/>
                <a:cs typeface="Times New Roman"/>
              </a:rPr>
              <a:t>Подростковый возраст является наиболее оптимальным для развития системы ценностей, так как это период самоутверждения, активного развития социальных интересов и жизненных идеалов.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>
            <a:normAutofit/>
          </a:bodyPr>
          <a:lstStyle/>
          <a:p>
            <a:pPr algn="ctr">
              <a:defRPr/>
            </a:pPr>
            <a:r>
              <a:rPr lang="ru-RU" sz="3200" b="1" dirty="0">
                <a:latin typeface="Times New Roman"/>
                <a:cs typeface="Times New Roman"/>
              </a:rPr>
              <a:t>Опрос</a:t>
            </a:r>
            <a:endParaRPr lang="ru-RU" sz="3200" dirty="0">
              <a:latin typeface="Times New Roman"/>
              <a:cs typeface="Times New Roman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>
                <a:latin typeface="Times New Roman"/>
                <a:cs typeface="Times New Roman"/>
              </a:rPr>
              <a:t>1.</a:t>
            </a:r>
            <a:r>
              <a:rPr lang="en-US">
                <a:latin typeface="Times New Roman"/>
                <a:cs typeface="Times New Roman"/>
              </a:rPr>
              <a:t> </a:t>
            </a:r>
            <a:r>
              <a:rPr lang="ru-RU">
                <a:latin typeface="Times New Roman"/>
                <a:cs typeface="Times New Roman"/>
              </a:rPr>
              <a:t>Хотели бы вы трудоустроиться?</a:t>
            </a:r>
          </a:p>
          <a:p>
            <a:pPr marL="0" indent="0">
              <a:buNone/>
              <a:defRPr/>
            </a:pPr>
            <a:r>
              <a:rPr lang="ru-RU">
                <a:latin typeface="Times New Roman"/>
                <a:cs typeface="Times New Roman"/>
              </a:rPr>
              <a:t>2. Знаете ли как трудоустроится  на работу?</a:t>
            </a:r>
            <a:br>
              <a:rPr lang="ru-RU">
                <a:latin typeface="Times New Roman"/>
                <a:cs typeface="Times New Roman"/>
              </a:rPr>
            </a:br>
            <a:r>
              <a:rPr lang="ru-RU">
                <a:latin typeface="Times New Roman"/>
                <a:cs typeface="Times New Roman"/>
              </a:rPr>
              <a:t>3.</a:t>
            </a:r>
            <a:r>
              <a:rPr lang="en-US">
                <a:latin typeface="Times New Roman"/>
                <a:cs typeface="Times New Roman"/>
              </a:rPr>
              <a:t> </a:t>
            </a:r>
            <a:r>
              <a:rPr lang="ru-RU">
                <a:latin typeface="Times New Roman"/>
                <a:cs typeface="Times New Roman"/>
              </a:rPr>
              <a:t>С какого возраста можно официально устроиться на работу?</a:t>
            </a:r>
          </a:p>
          <a:p>
            <a:pPr marL="0" indent="0">
              <a:buNone/>
              <a:defRPr/>
            </a:pPr>
            <a:r>
              <a:rPr lang="ru-RU">
                <a:latin typeface="Times New Roman"/>
                <a:cs typeface="Times New Roman"/>
              </a:rPr>
              <a:t>4.</a:t>
            </a:r>
            <a:r>
              <a:rPr lang="en-US">
                <a:latin typeface="Times New Roman"/>
                <a:cs typeface="Times New Roman"/>
              </a:rPr>
              <a:t> </a:t>
            </a:r>
            <a:r>
              <a:rPr lang="ru-RU">
                <a:latin typeface="Times New Roman"/>
                <a:cs typeface="Times New Roman"/>
              </a:rPr>
              <a:t>Кто занимается трудоустройством подростков?</a:t>
            </a:r>
            <a:endParaRPr/>
          </a:p>
          <a:p>
            <a:pPr marL="0" indent="0">
              <a:buNone/>
              <a:defRPr/>
            </a:pPr>
            <a:r>
              <a:rPr lang="ru-RU">
                <a:latin typeface="Times New Roman"/>
                <a:cs typeface="Times New Roman"/>
              </a:rPr>
              <a:t>5.</a:t>
            </a:r>
            <a:r>
              <a:rPr lang="en-US">
                <a:latin typeface="Times New Roman"/>
                <a:cs typeface="Times New Roman"/>
              </a:rPr>
              <a:t> </a:t>
            </a:r>
            <a:r>
              <a:rPr lang="ru-RU">
                <a:latin typeface="Times New Roman"/>
                <a:cs typeface="Times New Roman"/>
              </a:rPr>
              <a:t>Куда обратиться для трудоустройства?</a:t>
            </a:r>
            <a:endParaRPr/>
          </a:p>
          <a:p>
            <a:pPr marL="0" indent="0">
              <a:buNone/>
              <a:defRPr/>
            </a:pPr>
            <a:br>
              <a:rPr lang="ru-RU">
                <a:latin typeface="Times New Roman"/>
                <a:cs typeface="Times New Roman"/>
              </a:rPr>
            </a:br>
            <a:endParaRPr lang="ru-RU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621792" y="-109728"/>
            <a:ext cx="10972800" cy="11430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Результаты опроса</a:t>
            </a:r>
            <a:endParaRPr sz="3200" b="1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4" name="Диаграмма 3"/>
          <p:cNvGraphicFramePr>
            <a:graphicFrameLocks/>
          </p:cNvGraphicFramePr>
          <p:nvPr/>
        </p:nvGraphicFramePr>
        <p:xfrm>
          <a:off x="268224" y="975360"/>
          <a:ext cx="11838432" cy="55046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/>
          <p:nvPr/>
        </p:nvSpPr>
        <p:spPr bwMode="auto">
          <a:xfrm>
            <a:off x="689925" y="597408"/>
            <a:ext cx="10687184" cy="55595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>
              <a:spcBef>
                <a:spcPts val="0"/>
              </a:spcBef>
              <a:buFont typeface="Arial"/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>
              <a:spcBef>
                <a:spcPts val="0"/>
              </a:spcBef>
              <a:buFont typeface="Arial"/>
              <a:buChar char="–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>
              <a:spcBef>
                <a:spcPts val="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>
              <a:spcBef>
                <a:spcPts val="0"/>
              </a:spcBef>
              <a:buFont typeface="Arial"/>
              <a:buChar char="–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>
              <a:spcBef>
                <a:spcPts val="0"/>
              </a:spcBef>
              <a:buFont typeface="Arial"/>
              <a:buChar char="»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  <a:defRPr/>
            </a:pPr>
            <a:r>
              <a:rPr lang="ru-RU" sz="2800" b="1" dirty="0">
                <a:latin typeface="Times New Roman"/>
                <a:ea typeface="Times New Roman"/>
                <a:cs typeface="Times New Roman"/>
              </a:rPr>
              <a:t>Цель: </a:t>
            </a:r>
            <a:r>
              <a:rPr lang="ru-RU" sz="2800" dirty="0">
                <a:latin typeface="Times New Roman"/>
                <a:ea typeface="Times New Roman"/>
                <a:cs typeface="Times New Roman"/>
              </a:rPr>
              <a:t>Создание сайта в интернете для  помощи в трудоустройстве подростков.</a:t>
            </a:r>
          </a:p>
          <a:p>
            <a:pPr marL="0" indent="0" algn="just">
              <a:buNone/>
              <a:defRPr/>
            </a:pPr>
            <a:r>
              <a:rPr lang="ru-RU" sz="2800" b="1" dirty="0">
                <a:latin typeface="Times New Roman"/>
                <a:ea typeface="Times New Roman"/>
                <a:cs typeface="Times New Roman"/>
              </a:rPr>
              <a:t>Задачи: </a:t>
            </a:r>
            <a:endParaRPr dirty="0"/>
          </a:p>
          <a:p>
            <a:pPr marL="0" indent="0" algn="just">
              <a:spcAft>
                <a:spcPts val="800"/>
              </a:spcAft>
              <a:buNone/>
              <a:defRPr/>
            </a:pPr>
            <a:r>
              <a:rPr lang="ru-RU" sz="2800" dirty="0">
                <a:latin typeface="Times New Roman"/>
                <a:ea typeface="Times New Roman"/>
                <a:cs typeface="Times New Roman"/>
              </a:rPr>
              <a:t>1. Узнать особенность трудоустройства несовершеннолетних в соответствии с трудовым законодательством России; </a:t>
            </a:r>
            <a:endParaRPr dirty="0"/>
          </a:p>
          <a:p>
            <a:pPr marL="0" indent="0" algn="just">
              <a:spcAft>
                <a:spcPts val="800"/>
              </a:spcAft>
              <a:buNone/>
              <a:defRPr/>
            </a:pPr>
            <a:r>
              <a:rPr lang="ru-RU" sz="2800" dirty="0">
                <a:latin typeface="Times New Roman"/>
                <a:cs typeface="Times New Roman"/>
              </a:rPr>
              <a:t>2. Проанализировать рынок труда для подростков в возрасте от </a:t>
            </a:r>
            <a:br>
              <a:rPr lang="ru-RU" sz="2800" dirty="0">
                <a:latin typeface="Times New Roman"/>
                <a:cs typeface="Times New Roman"/>
              </a:rPr>
            </a:br>
            <a:r>
              <a:rPr lang="ru-RU" sz="2800" dirty="0">
                <a:latin typeface="Times New Roman"/>
                <a:cs typeface="Times New Roman"/>
              </a:rPr>
              <a:t>14-18 лет;</a:t>
            </a:r>
            <a:endParaRPr dirty="0"/>
          </a:p>
          <a:p>
            <a:pPr marL="0" marR="0" indent="0" algn="just">
              <a:lnSpc>
                <a:spcPct val="100000"/>
              </a:lnSpc>
              <a:spcBef>
                <a:spcPts val="0"/>
              </a:spcBef>
              <a:spcAft>
                <a:spcPts val="799"/>
              </a:spcAft>
              <a:buFont typeface="Arial"/>
              <a:buNone/>
              <a:defRPr/>
            </a:pPr>
            <a:r>
              <a:rPr lang="ru-RU" sz="2800" dirty="0">
                <a:latin typeface="Times New Roman"/>
                <a:cs typeface="Times New Roman"/>
              </a:rPr>
              <a:t>3.</a:t>
            </a:r>
            <a:r>
              <a:rPr lang="ru-RU" b="0" i="0" u="none" strike="noStrike" cap="none" spc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800" b="0" i="0" u="none" strike="noStrike" cap="none" spc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Изучить  возможные методы и инструменты для разработки </a:t>
            </a:r>
            <a:r>
              <a:rPr lang="ru-RU" sz="2800" dirty="0">
                <a:latin typeface="Times New Roman"/>
                <a:ea typeface="Times New Roman"/>
                <a:cs typeface="Times New Roman"/>
              </a:rPr>
              <a:t>сайта</a:t>
            </a:r>
            <a:r>
              <a:rPr lang="ru-RU" sz="2800" b="0" i="0" u="none" strike="noStrike" cap="none" spc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;</a:t>
            </a:r>
            <a:endParaRPr lang="ru-RU" sz="2800" b="0" i="0" u="none" strike="noStrike" cap="none" spc="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indent="0" algn="just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/>
            </a:pPr>
            <a:r>
              <a:rPr lang="ru-RU" sz="2800" b="0" i="0" u="none" strike="noStrike" cap="none" spc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4. Отобрать материал для </a:t>
            </a:r>
            <a:r>
              <a:rPr lang="ru-RU" sz="2800" dirty="0">
                <a:latin typeface="Times New Roman"/>
                <a:ea typeface="Times New Roman"/>
                <a:cs typeface="Times New Roman"/>
              </a:rPr>
              <a:t>сайта</a:t>
            </a:r>
            <a:r>
              <a:rPr lang="ru-RU" sz="2800" b="0" i="0" u="none" strike="noStrike" cap="none" spc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создать его.</a:t>
            </a:r>
            <a:endParaRPr lang="ru-RU" b="0" i="0" u="none" strike="noStrike" cap="none" spc="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spcAft>
                <a:spcPts val="800"/>
              </a:spcAft>
              <a:defRPr/>
            </a:pPr>
            <a:endParaRPr lang="ru-RU" sz="2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31620" y="584677"/>
            <a:ext cx="9144000" cy="385959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sz="2800" b="1">
                <a:latin typeface="Times New Roman"/>
                <a:cs typeface="Times New Roman"/>
              </a:rPr>
              <a:t>Трудовые правила и ограничения</a:t>
            </a:r>
            <a:endParaRPr/>
          </a:p>
        </p:txBody>
      </p:sp>
      <p:sp>
        <p:nvSpPr>
          <p:cNvPr id="9" name="Прямоугольник 8"/>
          <p:cNvSpPr/>
          <p:nvPr/>
        </p:nvSpPr>
        <p:spPr bwMode="auto">
          <a:xfrm>
            <a:off x="256032" y="1763477"/>
            <a:ext cx="1169517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400">
                <a:latin typeface="Times New Roman"/>
                <a:cs typeface="Times New Roman"/>
              </a:rPr>
              <a:t>	Согласно Закону, подросток может работать с 14-ти лет.</a:t>
            </a:r>
            <a:endParaRPr/>
          </a:p>
          <a:p>
            <a:pPr>
              <a:defRPr/>
            </a:pPr>
            <a:endParaRPr lang="ru-RU" sz="2400">
              <a:latin typeface="Times New Roman"/>
              <a:cs typeface="Times New Roman"/>
            </a:endParaRPr>
          </a:p>
          <a:p>
            <a:pPr>
              <a:defRPr/>
            </a:pPr>
            <a:endParaRPr lang="ru-RU" sz="2400">
              <a:latin typeface="Times New Roman"/>
              <a:cs typeface="Times New Roman"/>
            </a:endParaRPr>
          </a:p>
          <a:p>
            <a:pPr>
              <a:defRPr/>
            </a:pPr>
            <a:r>
              <a:rPr lang="ru-RU" sz="2400">
                <a:latin typeface="Times New Roman"/>
                <a:cs typeface="Times New Roman"/>
              </a:rPr>
              <a:t>­	Продолжительность рабочего времени:</a:t>
            </a:r>
            <a:endParaRPr/>
          </a:p>
          <a:p>
            <a:pPr>
              <a:defRPr/>
            </a:pPr>
            <a:endParaRPr lang="ru-RU" sz="2400">
              <a:latin typeface="Times New Roman"/>
              <a:cs typeface="Times New Roman"/>
            </a:endParaRPr>
          </a:p>
          <a:p>
            <a:pPr lvl="0">
              <a:defRPr/>
            </a:pPr>
            <a:r>
              <a:rPr lang="ru-RU" sz="2400">
                <a:latin typeface="Times New Roman"/>
                <a:cs typeface="Times New Roman"/>
              </a:rPr>
              <a:t>	- для подростков 14 - 16 лет - 5 часов в день и 24 ч в неделю;</a:t>
            </a:r>
            <a:endParaRPr/>
          </a:p>
          <a:p>
            <a:pPr lvl="0">
              <a:defRPr/>
            </a:pPr>
            <a:r>
              <a:rPr lang="ru-RU" sz="2400">
                <a:latin typeface="Times New Roman"/>
                <a:cs typeface="Times New Roman"/>
              </a:rPr>
              <a:t>	- для подростков 16 - 18 лет -7 часов в день и 36 ч в неделю.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 bwMode="auto">
          <a:xfrm>
            <a:off x="246888" y="1859340"/>
            <a:ext cx="1161288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400">
                <a:latin typeface="Times New Roman"/>
                <a:cs typeface="Times New Roman"/>
              </a:rPr>
              <a:t>	</a:t>
            </a:r>
            <a:r>
              <a:rPr lang="ru-RU" sz="2400" b="1">
                <a:latin typeface="Times New Roman"/>
                <a:cs typeface="Times New Roman"/>
              </a:rPr>
              <a:t>Запрещенные</a:t>
            </a:r>
            <a:r>
              <a:rPr lang="ru-RU" sz="2400">
                <a:latin typeface="Times New Roman"/>
                <a:cs typeface="Times New Roman"/>
              </a:rPr>
              <a:t> законодательством </a:t>
            </a:r>
            <a:r>
              <a:rPr lang="ru-RU" sz="2400" b="1">
                <a:latin typeface="Times New Roman"/>
                <a:cs typeface="Times New Roman"/>
              </a:rPr>
              <a:t>виды работ</a:t>
            </a:r>
            <a:r>
              <a:rPr lang="ru-RU" sz="2400">
                <a:latin typeface="Times New Roman"/>
                <a:cs typeface="Times New Roman"/>
              </a:rPr>
              <a:t>:</a:t>
            </a:r>
            <a:endParaRPr/>
          </a:p>
          <a:p>
            <a:pPr>
              <a:defRPr/>
            </a:pPr>
            <a:endParaRPr lang="ru-RU" sz="2400">
              <a:latin typeface="Times New Roman"/>
              <a:cs typeface="Times New Roman"/>
            </a:endParaRPr>
          </a:p>
          <a:p>
            <a:pPr lvl="0">
              <a:defRPr/>
            </a:pPr>
            <a:r>
              <a:rPr lang="ru-RU" sz="2400">
                <a:latin typeface="Times New Roman"/>
                <a:cs typeface="Times New Roman"/>
              </a:rPr>
              <a:t>	- совместительство;</a:t>
            </a:r>
            <a:endParaRPr/>
          </a:p>
          <a:p>
            <a:pPr lvl="0">
              <a:defRPr/>
            </a:pPr>
            <a:endParaRPr lang="ru-RU" sz="2400">
              <a:latin typeface="Times New Roman"/>
              <a:cs typeface="Times New Roman"/>
            </a:endParaRPr>
          </a:p>
          <a:p>
            <a:pPr lvl="0">
              <a:defRPr/>
            </a:pPr>
            <a:r>
              <a:rPr lang="ru-RU" sz="2400">
                <a:latin typeface="Times New Roman"/>
                <a:cs typeface="Times New Roman"/>
              </a:rPr>
              <a:t>	- на работах с вредными и опасными условиями труда;</a:t>
            </a:r>
            <a:endParaRPr/>
          </a:p>
          <a:p>
            <a:pPr lvl="0">
              <a:defRPr/>
            </a:pPr>
            <a:endParaRPr lang="ru-RU" sz="2400">
              <a:latin typeface="Times New Roman"/>
              <a:cs typeface="Times New Roman"/>
            </a:endParaRPr>
          </a:p>
          <a:p>
            <a:pPr lvl="0">
              <a:defRPr/>
            </a:pPr>
            <a:r>
              <a:rPr lang="ru-RU" sz="2400">
                <a:latin typeface="Times New Roman"/>
                <a:cs typeface="Times New Roman"/>
              </a:rPr>
              <a:t>	- в религиозных учреждениях;</a:t>
            </a:r>
            <a:endParaRPr/>
          </a:p>
          <a:p>
            <a:pPr lvl="0">
              <a:defRPr/>
            </a:pPr>
            <a:endParaRPr lang="ru-RU" sz="2400">
              <a:latin typeface="Times New Roman"/>
              <a:cs typeface="Times New Roman"/>
            </a:endParaRPr>
          </a:p>
          <a:p>
            <a:pPr lvl="0">
              <a:defRPr/>
            </a:pPr>
            <a:r>
              <a:rPr lang="ru-RU" sz="2400">
                <a:latin typeface="Times New Roman"/>
                <a:cs typeface="Times New Roman"/>
              </a:rPr>
              <a:t>	- в выходные дни, в ночное время, на подземных работах.</a:t>
            </a:r>
            <a:endParaRPr/>
          </a:p>
        </p:txBody>
      </p:sp>
      <p:sp>
        <p:nvSpPr>
          <p:cNvPr id="7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481328" y="337251"/>
            <a:ext cx="9144000" cy="385959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sz="2800" b="1">
                <a:latin typeface="Times New Roman"/>
                <a:cs typeface="Times New Roman"/>
              </a:rPr>
              <a:t>Трудовые</a:t>
            </a:r>
            <a:r>
              <a:rPr lang="ru-RU" sz="2800" b="1">
                <a:solidFill>
                  <a:srgbClr val="FFC000"/>
                </a:solidFill>
                <a:latin typeface="Times New Roman"/>
                <a:cs typeface="Times New Roman"/>
              </a:rPr>
              <a:t> </a:t>
            </a:r>
            <a:r>
              <a:rPr lang="ru-RU" sz="2800" b="1">
                <a:latin typeface="Times New Roman"/>
                <a:cs typeface="Times New Roman"/>
              </a:rPr>
              <a:t>правила</a:t>
            </a:r>
            <a:r>
              <a:rPr lang="ru-RU" sz="2800" b="1">
                <a:solidFill>
                  <a:srgbClr val="FFC000"/>
                </a:solidFill>
                <a:latin typeface="Times New Roman"/>
                <a:cs typeface="Times New Roman"/>
              </a:rPr>
              <a:t> </a:t>
            </a:r>
            <a:r>
              <a:rPr lang="ru-RU" sz="2800" b="1">
                <a:latin typeface="Times New Roman"/>
                <a:cs typeface="Times New Roman"/>
              </a:rPr>
              <a:t>и</a:t>
            </a:r>
            <a:r>
              <a:rPr lang="ru-RU" sz="2800" b="1">
                <a:solidFill>
                  <a:srgbClr val="FFC000"/>
                </a:solidFill>
                <a:latin typeface="Times New Roman"/>
                <a:cs typeface="Times New Roman"/>
              </a:rPr>
              <a:t> </a:t>
            </a:r>
            <a:r>
              <a:rPr lang="ru-RU" sz="2800" b="1">
                <a:latin typeface="Times New Roman"/>
                <a:cs typeface="Times New Roman"/>
              </a:rPr>
              <a:t>ограничения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2800" b="1" dirty="0">
                <a:latin typeface="Times New Roman"/>
                <a:cs typeface="Times New Roman"/>
              </a:rPr>
              <a:t>Ссылки на</a:t>
            </a:r>
            <a:r>
              <a:rPr lang="ru-RU" b="1" dirty="0">
                <a:latin typeface="Times New Roman"/>
                <a:cs typeface="Times New Roman"/>
              </a:rPr>
              <a:t> </a:t>
            </a:r>
            <a:r>
              <a:rPr lang="ru-RU" sz="2800" b="1" dirty="0">
                <a:latin typeface="Times New Roman"/>
                <a:cs typeface="Times New Roman"/>
              </a:rPr>
              <a:t>сайт </a:t>
            </a:r>
            <a:endParaRPr sz="2800" b="1" dirty="0">
              <a:latin typeface="Times New Roman"/>
              <a:cs typeface="Times New Roman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 algn="ctr">
              <a:buNone/>
              <a:defRPr/>
            </a:pPr>
            <a:r>
              <a:rPr lang="en-US" dirty="0"/>
              <a:t>https://rabota-snezhinsk.ru/index.html</a:t>
            </a:r>
            <a:endParaRPr lang="ru-RU" dirty="0"/>
          </a:p>
        </p:txBody>
      </p:sp>
      <p:sp>
        <p:nvSpPr>
          <p:cNvPr id="7" name="Заголовок 1"/>
          <p:cNvSpPr txBox="1"/>
          <p:nvPr/>
        </p:nvSpPr>
        <p:spPr bwMode="auto">
          <a:xfrm>
            <a:off x="487680" y="2314956"/>
            <a:ext cx="4888992" cy="20939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endParaRPr lang="ru-RU" sz="4800" dirty="0">
              <a:latin typeface="Times New Roman"/>
              <a:cs typeface="Times New Roman"/>
            </a:endParaRPr>
          </a:p>
        </p:txBody>
      </p:sp>
      <p:pic>
        <p:nvPicPr>
          <p:cNvPr id="1026" name="Picture 2" descr="C:\Users\vsukn\Downloads\fram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980182"/>
            <a:ext cx="2857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Ссылки на материал проекта</a:t>
            </a:r>
            <a:endParaRPr lang="ru-RU" sz="3200" dirty="0">
              <a:effectLst/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9600" y="1600203"/>
            <a:ext cx="1138936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Трудовой кодекс - действующая редакция, актуальность 2025 г. [Электронный ресурс] trudinspection.ru/kodeks.html.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Сайт на программу в которой я  писал код(</a:t>
            </a:r>
            <a:r>
              <a:rPr lang="en-US" dirty="0">
                <a:hlinkClick r:id="rId2"/>
              </a:rPr>
              <a:t>https://code.visualstudio.com/</a:t>
            </a:r>
            <a:r>
              <a:rPr lang="ru-RU" dirty="0"/>
              <a:t>)</a:t>
            </a:r>
            <a:endParaRPr lang="en-US" dirty="0"/>
          </a:p>
          <a:p>
            <a:pPr marL="0" indent="0">
              <a:buNone/>
            </a:pPr>
            <a:endParaRPr lang="ru-RU" dirty="0"/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43332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/>
          <p:nvPr/>
        </p:nvSpPr>
        <p:spPr bwMode="auto">
          <a:xfrm>
            <a:off x="109728" y="100585"/>
            <a:ext cx="11923776" cy="467298"/>
          </a:xfrm>
          <a:prstGeom prst="rect">
            <a:avLst/>
          </a:prstGeom>
        </p:spPr>
        <p:txBody>
          <a:bodyPr vert="horz" lIns="45720" tIns="0" rIns="45720" bIns="0" anchor="b">
            <a:noAutofit/>
          </a:bodyPr>
          <a:lstStyle>
            <a:lvl1pPr algn="ctr">
              <a:spcBef>
                <a:spcPts val="0"/>
              </a:spcBef>
              <a:buNone/>
              <a:defRPr sz="4800" b="1" cap="all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3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Заключение</a:t>
            </a:r>
            <a:endParaRPr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75712509" name=" 475712508"/>
          <p:cNvSpPr/>
          <p:nvPr/>
        </p:nvSpPr>
        <p:spPr bwMode="auto">
          <a:xfrm>
            <a:off x="1082604" y="771336"/>
            <a:ext cx="10377876" cy="6086252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2800" dirty="0"/>
              <a:t>Для достижения результата, в ходе проектной работы был создан сайт, содержащий информацию о видах и способах заработка.  Я посетил Центр занятости населения города </a:t>
            </a:r>
            <a:r>
              <a:rPr lang="ru-RU" sz="2800" dirty="0" err="1"/>
              <a:t>Снежинска</a:t>
            </a:r>
            <a:r>
              <a:rPr lang="ru-RU" sz="2800" dirty="0"/>
              <a:t> и изучил виды работ доступные несовершеннолетним, а также перечень документов необходимый для устройства на работу.</a:t>
            </a:r>
          </a:p>
          <a:p>
            <a:r>
              <a:rPr lang="ru-RU" sz="2800" dirty="0"/>
              <a:t>	В процессе выполнения задач проекта был создан сайт с перечнем документов для подачи заявления по временному трудоустройству, где находится ЦНЗ (центр занятости несовершеннолетних), а также вакансиями для подростков в нашем городе.</a:t>
            </a:r>
          </a:p>
          <a:p>
            <a:r>
              <a:rPr lang="ru-RU" sz="2800" dirty="0"/>
              <a:t>	Надеюсь, мой сайт поможет школьникам узнать, что они могут начать зарабатывать уже сейчас и быть относительно независимыми в финансах от родителей.</a:t>
            </a:r>
            <a:endParaRPr lang="ru-RU" sz="2800" dirty="0">
              <a:effectLst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1085968" name="Заголовок 1"/>
          <p:cNvSpPr>
            <a:spLocks noGrp="1"/>
          </p:cNvSpPr>
          <p:nvPr>
            <p:ph type="ctrTitle"/>
          </p:nvPr>
        </p:nvSpPr>
        <p:spPr bwMode="auto">
          <a:xfrm>
            <a:off x="256030" y="109488"/>
            <a:ext cx="11640312" cy="1652634"/>
          </a:xfrm>
        </p:spPr>
        <p:txBody>
          <a:bodyPr>
            <a:normAutofit/>
          </a:bodyPr>
          <a:lstStyle/>
          <a:p>
            <a:pPr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МУНИЦИПАЛЬНОЕ БЮДЖЕТНОЕ ОБЩЕОБРАЗОВАТЕЛЬНОЕ УЧРЕЖДЕНИЕ «СРЕДНЯЯ ОБЩЕОБРАЗОВАТЕЛЬНАЯ ШКОЛА №135» ИМ. АКАДЕМИКА Б.В. ЛИТВИНОВА</a:t>
            </a:r>
            <a:endParaRPr sz="1600"/>
          </a:p>
        </p:txBody>
      </p:sp>
      <p:sp>
        <p:nvSpPr>
          <p:cNvPr id="2098130432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48125" y="1971675"/>
            <a:ext cx="12048564" cy="232926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sz="24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Индивидуальный</a:t>
            </a: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проект</a:t>
            </a:r>
            <a:endParaRPr sz="2400" dirty="0"/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Тип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проекта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социальный</a:t>
            </a:r>
            <a:endParaRPr sz="2400" dirty="0"/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Тема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проекта</a:t>
            </a:r>
            <a:endParaRPr sz="2400" dirty="0"/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«</a:t>
            </a:r>
            <a:r>
              <a:rPr lang="ru-RU"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Сайт </a:t>
            </a:r>
            <a:r>
              <a:rPr sz="24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для</a:t>
            </a: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трудоустройства</a:t>
            </a: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подростков</a:t>
            </a: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2400" dirty="0"/>
          </a:p>
        </p:txBody>
      </p:sp>
      <p:sp>
        <p:nvSpPr>
          <p:cNvPr id="1897952576" name="TextBox 4"/>
          <p:cNvSpPr txBox="1"/>
          <p:nvPr/>
        </p:nvSpPr>
        <p:spPr bwMode="auto">
          <a:xfrm>
            <a:off x="6844433" y="4235391"/>
            <a:ext cx="534756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Автор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проекта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Сукневич Виталий</a:t>
            </a:r>
            <a:endParaRPr sz="1600" dirty="0"/>
          </a:p>
          <a:p>
            <a:pPr>
              <a:defRPr/>
            </a:pP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Ученик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10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«А» </a:t>
            </a: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класса</a:t>
            </a:r>
            <a:endParaRPr sz="1600" dirty="0"/>
          </a:p>
          <a:p>
            <a:pPr>
              <a:defRPr/>
            </a:pP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Наставник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проекта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  <a:r>
              <a:rPr lang="ru-RU"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Сагайдачная</a:t>
            </a:r>
            <a:r>
              <a:rPr lang="ru-RU"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Полина Вячеславовна</a:t>
            </a:r>
            <a:endParaRPr lang="en-US" sz="1600" b="0" i="0" u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671362919" name=" 671362918"/>
          <p:cNvSpPr/>
          <p:nvPr/>
        </p:nvSpPr>
        <p:spPr bwMode="auto">
          <a:xfrm>
            <a:off x="4382474" y="6025514"/>
            <a:ext cx="3564509" cy="5794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defRPr/>
            </a:pP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Г. </a:t>
            </a:r>
            <a:r>
              <a:rPr sz="16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Снежинск</a:t>
            </a:r>
            <a:endParaRPr sz="1600" dirty="0"/>
          </a:p>
          <a:p>
            <a:pPr algn="ctr">
              <a:defRPr/>
            </a:pP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202</a:t>
            </a:r>
            <a:r>
              <a:rPr lang="ru-RU"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</a:t>
            </a:r>
            <a:r>
              <a:rPr sz="16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г.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92446102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479</TotalTime>
  <Words>514</Words>
  <Application>Microsoft Office PowerPoint</Application>
  <DocSecurity>0</DocSecurity>
  <PresentationFormat>Широкоэкранный</PresentationFormat>
  <Paragraphs>63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Times New Roman</vt:lpstr>
      <vt:lpstr>Тема Office</vt:lpstr>
      <vt:lpstr>МУНИЦИПАЛЬНОЕ БЮДЖЕТНОЕ ОБЩЕОБРАЗОВАТЕЛЬНОЕ УЧРЕЖДЕНИЕ «СРЕДНЯЯ ОБЩЕОБРАЗОВАТЕЛЬНАЯ ШКОЛА №135» ИМ. АКАДЕМИКА Б.В. ЛИТВИНОВА</vt:lpstr>
      <vt:lpstr>Презентация PowerPoint</vt:lpstr>
      <vt:lpstr>Опрос</vt:lpstr>
      <vt:lpstr>Результаты опроса</vt:lpstr>
      <vt:lpstr>Презентация PowerPoint</vt:lpstr>
      <vt:lpstr>Трудовые правила и ограничения</vt:lpstr>
      <vt:lpstr>Трудовые правила и ограничения</vt:lpstr>
      <vt:lpstr>Ссылки на сайт </vt:lpstr>
      <vt:lpstr>Ссылки на материал проекта</vt:lpstr>
      <vt:lpstr>Презентация PowerPoint</vt:lpstr>
      <vt:lpstr>МУНИЦИПАЛЬНОЕ БЮДЖЕТНОЕ ОБЩЕОБРАЗОВАТЕЛЬНОЕ УЧРЕЖДЕНИЕ «СРЕДНЯЯ ОБЩЕОБРАЗОВАТЕЛЬНАЯ ШКОЛА №135» ИМ. АКАДЕМИКА Б.В. ЛИТВИНОВА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Муниципальное общеобразовательное учреждение “ Cредняя общеобразовательная школа №135 имени академика Б.В.Литвинова”</dc:title>
  <dc:creator>Виталий Сукневич</dc:creator>
  <cp:lastModifiedBy>e Сукневич</cp:lastModifiedBy>
  <cp:revision>59</cp:revision>
  <dcterms:created xsi:type="dcterms:W3CDTF">2023-02-28T14:06:45Z</dcterms:created>
  <dcterms:modified xsi:type="dcterms:W3CDTF">2025-12-25T04:49:15Z</dcterms:modified>
  <dc:identifier/>
  <dc:language/>
  <cp:version/>
</cp:coreProperties>
</file>